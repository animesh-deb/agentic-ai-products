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7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mesh Deb" userId="8dc9a7d1-cfaa-4be6-a3e7-9ca400a2f310" providerId="ADAL" clId="{D073761B-CC05-495C-AF16-A0E481DBE5AA}"/>
    <pc:docChg chg="custSel addSld delSld modSld">
      <pc:chgData name="Animesh Deb" userId="8dc9a7d1-cfaa-4be6-a3e7-9ca400a2f310" providerId="ADAL" clId="{D073761B-CC05-495C-AF16-A0E481DBE5AA}" dt="2026-04-14T03:51:02.261" v="68" actId="2696"/>
      <pc:docMkLst>
        <pc:docMk/>
      </pc:docMkLst>
      <pc:sldChg chg="del">
        <pc:chgData name="Animesh Deb" userId="8dc9a7d1-cfaa-4be6-a3e7-9ca400a2f310" providerId="ADAL" clId="{D073761B-CC05-495C-AF16-A0E481DBE5AA}" dt="2026-04-14T03:51:02.261" v="68" actId="2696"/>
        <pc:sldMkLst>
          <pc:docMk/>
          <pc:sldMk cId="2789343688" sldId="256"/>
        </pc:sldMkLst>
      </pc:sldChg>
      <pc:sldChg chg="delSp modSp mod">
        <pc:chgData name="Animesh Deb" userId="8dc9a7d1-cfaa-4be6-a3e7-9ca400a2f310" providerId="ADAL" clId="{D073761B-CC05-495C-AF16-A0E481DBE5AA}" dt="2026-03-26T10:50:18.686" v="67" actId="255"/>
        <pc:sldMkLst>
          <pc:docMk/>
          <pc:sldMk cId="0" sldId="260"/>
        </pc:sldMkLst>
        <pc:spChg chg="mod">
          <ac:chgData name="Animesh Deb" userId="8dc9a7d1-cfaa-4be6-a3e7-9ca400a2f310" providerId="ADAL" clId="{D073761B-CC05-495C-AF16-A0E481DBE5AA}" dt="2026-03-26T10:46:38.374" v="30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Animesh Deb" userId="8dc9a7d1-cfaa-4be6-a3e7-9ca400a2f310" providerId="ADAL" clId="{D073761B-CC05-495C-AF16-A0E481DBE5AA}" dt="2026-03-26T10:50:18.686" v="67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Animesh Deb" userId="8dc9a7d1-cfaa-4be6-a3e7-9ca400a2f310" providerId="ADAL" clId="{D073761B-CC05-495C-AF16-A0E481DBE5AA}" dt="2026-03-26T10:50:14.293" v="66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nimesh Deb" userId="8dc9a7d1-cfaa-4be6-a3e7-9ca400a2f310" providerId="ADAL" clId="{D073761B-CC05-495C-AF16-A0E481DBE5AA}" dt="2026-03-26T10:50:09.038" v="65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nimesh Deb" userId="8dc9a7d1-cfaa-4be6-a3e7-9ca400a2f310" providerId="ADAL" clId="{D073761B-CC05-495C-AF16-A0E481DBE5AA}" dt="2026-03-26T10:48:56.595" v="54" actId="20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nimesh Deb" userId="8dc9a7d1-cfaa-4be6-a3e7-9ca400a2f310" providerId="ADAL" clId="{D073761B-CC05-495C-AF16-A0E481DBE5AA}" dt="2026-03-26T10:49:53.275" v="62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Animesh Deb" userId="8dc9a7d1-cfaa-4be6-a3e7-9ca400a2f310" providerId="ADAL" clId="{D073761B-CC05-495C-AF16-A0E481DBE5AA}" dt="2026-03-26T10:50:01.167" v="64" actId="1076"/>
          <ac:spMkLst>
            <pc:docMk/>
            <pc:sldMk cId="0" sldId="260"/>
            <ac:spMk id="26" creationId="{00000000-0000-0000-0000-000000000000}"/>
          </ac:spMkLst>
        </pc:spChg>
      </pc:sldChg>
      <pc:sldChg chg="add">
        <pc:chgData name="Animesh Deb" userId="8dc9a7d1-cfaa-4be6-a3e7-9ca400a2f310" providerId="ADAL" clId="{D073761B-CC05-495C-AF16-A0E481DBE5AA}" dt="2026-03-26T10:46:24.624" v="0" actId="2890"/>
        <pc:sldMkLst>
          <pc:docMk/>
          <pc:sldMk cId="392394150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D1EE9-EFE1-4354-8CF5-70FCDFED3D7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E53F0-7222-4560-8421-4C8B63658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94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A9A45-5F5E-89DE-36DF-B56D46D73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C0807-5F21-46B7-512D-DD96685B6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DCCAF-1637-36D8-7CAB-40674DF07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BEC38-ABC6-5F3C-5B4B-F2496DD51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14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DA0C-D3E9-2CC7-AF7F-9EF3C7558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1CE04-1724-15F6-6396-DF3977726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C2D01-3F19-80DB-F677-7718F18F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47AF-6DF5-410C-AA03-19C9C01C41C2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84620-4F5B-101A-BDB0-2C17CD81E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00FBC-7D4B-6B4B-7934-9E2E0D0B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F894-AC7B-47EB-96B2-65520C9D0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83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AC88-46E9-927F-5410-0D568170F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1A42D-2BC5-F416-C42F-66EE5FC82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ACB80-D017-F42E-996F-470FA942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47AF-6DF5-410C-AA03-19C9C01C41C2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54077-CC3F-5405-66C3-5237A61FD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D2169-BA99-FB6E-4A3B-CBC053ECD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F894-AC7B-47EB-96B2-65520C9D0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60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8A17F-0435-F0ED-2832-19AA04838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6162A-8DC6-EA67-AF7A-C9E6584C0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29D67-F518-5D75-7F79-3506AEEB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47AF-6DF5-410C-AA03-19C9C01C41C2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7456E-08A0-0DEB-9C7B-87506ED3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A0A8C-E380-D12A-CF65-7AA53F44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F894-AC7B-47EB-96B2-65520C9D0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048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3493-1DA2-27BA-0670-43C48EC3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8B22D-FEED-31A0-E985-C46AA9EB8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8F6EA-58AF-CC3F-B3C0-9F325A9D2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591A9-13D3-E1ED-8224-F585F294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47AF-6DF5-410C-AA03-19C9C01C41C2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2D70D-05C6-3E8B-828A-AD3968AC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539E0-F487-5C06-7F95-560DBD59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F894-AC7B-47EB-96B2-65520C9D0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681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38E39-C5F1-5C65-FFE7-28A9A0638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909E2-0E36-2FB0-648B-AC5DCECEF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97415-6C20-FE90-5B32-1652EE153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C7836E-AA8A-EBB4-BCEA-6F6AA418A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55BDA-4F63-17D3-B94A-B57B13672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A44ADC-CC75-2FC6-E82B-ECEA3D00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47AF-6DF5-410C-AA03-19C9C01C41C2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70DED3-1281-5809-EA39-616E469D6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E41DD4-7D87-E7F6-C769-46D91602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F894-AC7B-47EB-96B2-65520C9D0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437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176C-D2C7-C57A-2CC4-6952020B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153CB1-9092-BE4A-A3BA-3D8E59FF4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47AF-6DF5-410C-AA03-19C9C01C41C2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82E81D-E9BA-33DA-0238-A5DF22C95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E57D8-2707-F470-6283-63494CE16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F894-AC7B-47EB-96B2-65520C9D0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688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003CF-1291-2C8E-284F-FB6C49B1C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47AF-6DF5-410C-AA03-19C9C01C41C2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73C38-BFC3-E7E7-C17C-3F40A11D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AAF60-E2E7-1A75-E611-32D9A7D9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F894-AC7B-47EB-96B2-65520C9D0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31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8934-19C1-F0B5-58E6-9DEA6494D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80840-28AC-95BB-108A-E59A2BDCC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42C08-59F1-8243-C878-2BBB65807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BF7EF-60AA-957D-BF2E-CF06AC58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47AF-6DF5-410C-AA03-19C9C01C41C2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2B6A7-A403-010B-D6FC-936656F35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9866-7F2B-ECDF-1B2F-2043A6CF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F894-AC7B-47EB-96B2-65520C9D0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98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2EAE1-1D96-6CBF-E998-ECA8010E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088D3C-1AF8-37BF-7781-EF826A832D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3A7DA-E6F6-EE46-9ACA-E1D7CED1A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A0A25-8BB1-803E-1FB8-545A81082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47AF-6DF5-410C-AA03-19C9C01C41C2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C23E7-B185-8BF5-1C8A-E1150966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92882-AE73-CF73-EE30-2023A90AD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F894-AC7B-47EB-96B2-65520C9D0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14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07849-F32F-3A87-4A53-0DBDCFDFE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9EFDE-BBB1-0D17-5616-8968156A0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DF4C1-93EB-0C8E-BE96-7E7F01B76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47AF-6DF5-410C-AA03-19C9C01C41C2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7429A-786A-9892-9785-947C7AC4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80E45-21EB-54AD-BA77-F4896D42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F894-AC7B-47EB-96B2-65520C9D0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2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4E554-F9A1-442E-5861-53CD306D0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D0E60-61ED-B0A4-5AEE-0980641A3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843DF-743D-452C-772F-030CCF281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47AF-6DF5-410C-AA03-19C9C01C41C2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BD526-3723-02D6-B676-A8805793F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8AFC7-1603-3A01-7BE0-5CF05992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F894-AC7B-47EB-96B2-65520C9D0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752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3705897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5304980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2771967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294765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1967465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239641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B9BE4-7EAE-906F-5558-08D68E53E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51453-C7F4-99CC-AB45-F79D9865E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7867C-EF6B-B7E5-D52B-0D24C99E88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747AF-6DF5-410C-AA03-19C9C01C41C2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DD413-3DB7-5101-1C0D-F509518BA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6E6F0-9947-82C8-D31A-0552A4EC8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CF894-AC7B-47EB-96B2-65520C9D0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34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10" Type="http://schemas.openxmlformats.org/officeDocument/2006/relationships/image" Target="../media/image3.png"/><Relationship Id="rId4" Type="http://schemas.openxmlformats.org/officeDocument/2006/relationships/image" Target="../media/image5.sv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People with tablet">
            <a:extLst>
              <a:ext uri="{FF2B5EF4-FFF2-40B4-BE49-F238E27FC236}">
                <a16:creationId xmlns:a16="http://schemas.microsoft.com/office/drawing/2014/main" id="{C9BC5A16-F453-E918-3359-29D3259C7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4627418" cy="68380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48487" y="358091"/>
            <a:ext cx="7011004" cy="1316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3000" b="1" dirty="0">
                <a:solidFill>
                  <a:srgbClr val="F5F0F0"/>
                </a:solidFill>
              </a:rPr>
              <a:t>ITSM Decision Intelligence for Proactive Service Operations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BA87458-8EE1-BA93-35D5-A464AFC93B57}"/>
              </a:ext>
            </a:extLst>
          </p:cNvPr>
          <p:cNvSpPr/>
          <p:nvPr/>
        </p:nvSpPr>
        <p:spPr>
          <a:xfrm>
            <a:off x="4793008" y="1913116"/>
            <a:ext cx="1464171" cy="189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17"/>
              </a:lnSpc>
            </a:pPr>
            <a:r>
              <a:rPr lang="en-US" sz="1500" dirty="0">
                <a:solidFill>
                  <a:schemeClr val="bg1"/>
                </a:solidFill>
              </a:rPr>
              <a:t>🔷 </a:t>
            </a:r>
            <a:r>
              <a:rPr lang="en-US" sz="1667" b="1" dirty="0">
                <a:solidFill>
                  <a:schemeClr val="bg1"/>
                </a:solidFill>
              </a:rPr>
              <a:t>The Shift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8847B25-BDBE-B896-45D9-B00761C8533B}"/>
              </a:ext>
            </a:extLst>
          </p:cNvPr>
          <p:cNvSpPr/>
          <p:nvPr/>
        </p:nvSpPr>
        <p:spPr>
          <a:xfrm>
            <a:off x="4815640" y="2259450"/>
            <a:ext cx="7168541" cy="29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500" b="1" dirty="0">
                <a:solidFill>
                  <a:schemeClr val="bg1"/>
                </a:solidFill>
              </a:rPr>
              <a:t>Traditional ITSM dashboards tell you what happened. ITSM Decision Intelligence reveals</a:t>
            </a:r>
            <a:r>
              <a:rPr lang="en-US" sz="1167" b="1" dirty="0">
                <a:solidFill>
                  <a:schemeClr val="accent2">
                    <a:lumMod val="20000"/>
                    <a:lumOff val="80000"/>
                  </a:schemeClr>
                </a:solidFill>
                <a:ea typeface="Roboto Light" pitchFamily="34" charset="-122"/>
                <a:cs typeface="Roboto Light" pitchFamily="34" charset="-120"/>
              </a:rPr>
              <a:t>:</a:t>
            </a:r>
            <a:endParaRPr lang="en-US" sz="1167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7E5F907-F0CD-B47A-0CC8-215964FA1C92}"/>
              </a:ext>
            </a:extLst>
          </p:cNvPr>
          <p:cNvSpPr/>
          <p:nvPr/>
        </p:nvSpPr>
        <p:spPr>
          <a:xfrm>
            <a:off x="4806863" y="2701200"/>
            <a:ext cx="3990773" cy="727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Why it happened</a:t>
            </a:r>
          </a:p>
          <a:p>
            <a:pPr marL="285739" indent="-285739"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Where instability exists</a:t>
            </a:r>
          </a:p>
          <a:p>
            <a:pPr marL="285739" indent="-285739"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What will escalate next</a:t>
            </a:r>
          </a:p>
          <a:p>
            <a:pPr marL="285739" indent="-285739">
              <a:buSzPct val="10000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How to prevent service disruption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25BCD4A-865E-4E33-A9ED-AC1A6C94DE54}"/>
              </a:ext>
            </a:extLst>
          </p:cNvPr>
          <p:cNvSpPr/>
          <p:nvPr/>
        </p:nvSpPr>
        <p:spPr>
          <a:xfrm>
            <a:off x="4815640" y="3766209"/>
            <a:ext cx="7043851" cy="505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1500" b="1" dirty="0">
                <a:solidFill>
                  <a:schemeClr val="bg1"/>
                </a:solidFill>
              </a:rPr>
              <a:t>It moves IT from reactive incident handling to predictive, flow-optimized, risk-aware governance.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D4EE83C-E10D-26AA-1CF6-516F7A604E65}"/>
              </a:ext>
            </a:extLst>
          </p:cNvPr>
          <p:cNvGraphicFramePr>
            <a:graphicFrameLocks noGrp="1"/>
          </p:cNvGraphicFramePr>
          <p:nvPr/>
        </p:nvGraphicFramePr>
        <p:xfrm>
          <a:off x="4793008" y="4271976"/>
          <a:ext cx="7066483" cy="2214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6483">
                  <a:extLst>
                    <a:ext uri="{9D8B030D-6E8A-4147-A177-3AD203B41FA5}">
                      <a16:colId xmlns:a16="http://schemas.microsoft.com/office/drawing/2014/main" val="1055002685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4016482870"/>
                    </a:ext>
                  </a:extLst>
                </a:gridCol>
              </a:tblGrid>
              <a:tr h="309033">
                <a:tc>
                  <a:txBody>
                    <a:bodyPr/>
                    <a:lstStyle/>
                    <a:p>
                      <a:r>
                        <a:rPr lang="en-IN" sz="1500" dirty="0"/>
                        <a:t>🎯 Mission</a:t>
                      </a: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/>
                        <a:t>🌟 Vision</a:t>
                      </a:r>
                    </a:p>
                  </a:txBody>
                  <a:tcPr marL="76200" marR="76200" marT="38100" marB="381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675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To transform IT service data into actionable intelligence that: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Prevents major incidents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Eliminates process waste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Stabilizes critical infrastructure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Elevates customer experience</a:t>
                      </a:r>
                    </a:p>
                    <a:p>
                      <a:endParaRPr lang="en-US" sz="1500" b="1" dirty="0">
                        <a:solidFill>
                          <a:schemeClr val="bg1"/>
                        </a:solidFill>
                      </a:endParaRPr>
                    </a:p>
                    <a:p>
                      <a:endParaRPr lang="en-IN" sz="1500" b="1" dirty="0"/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To build IT organizations that are: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Predictive rather than reactive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Flow-efficient rather than handoff-driven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Stability-focused rather than ticket-focused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Experience-led rather than SLA-bound</a:t>
                      </a:r>
                    </a:p>
                    <a:p>
                      <a:endParaRPr lang="en-IN" sz="1500" b="1" dirty="0"/>
                    </a:p>
                  </a:txBody>
                  <a:tcPr marL="76200" marR="76200" marT="38100" marB="381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29607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37BC31DC-CFA2-2E5B-8E12-8A8FD4935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9968"/>
            <a:ext cx="1579418" cy="804366"/>
          </a:xfrm>
          <a:prstGeom prst="rect">
            <a:avLst/>
          </a:prstGeom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91FF7CD7-A6D0-8C43-D83F-821A747A4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53887"/>
            <a:ext cx="15395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6200" tIns="38100" rIns="76200" bIns="3810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0">
            <a:extLst>
              <a:ext uri="{FF2B5EF4-FFF2-40B4-BE49-F238E27FC236}">
                <a16:creationId xmlns:a16="http://schemas.microsoft.com/office/drawing/2014/main" id="{FAF355E4-A7E7-5343-D986-60F2E6048042}"/>
              </a:ext>
            </a:extLst>
          </p:cNvPr>
          <p:cNvSpPr/>
          <p:nvPr/>
        </p:nvSpPr>
        <p:spPr>
          <a:xfrm>
            <a:off x="8594997" y="3273833"/>
            <a:ext cx="425748" cy="425748"/>
          </a:xfrm>
          <a:prstGeom prst="roundRect">
            <a:avLst>
              <a:gd name="adj" fmla="val 1789614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 sz="1500" dirty="0"/>
          </a:p>
        </p:txBody>
      </p:sp>
      <p:sp>
        <p:nvSpPr>
          <p:cNvPr id="3" name="Text 0"/>
          <p:cNvSpPr/>
          <p:nvPr/>
        </p:nvSpPr>
        <p:spPr>
          <a:xfrm>
            <a:off x="5100660" y="491431"/>
            <a:ext cx="6626423" cy="88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58"/>
              </a:lnSpc>
            </a:pPr>
            <a:r>
              <a:rPr lang="en-US" sz="3000" b="1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Why Traditional ITSM Reporting Isn't Helping Modern Teams</a:t>
            </a:r>
            <a:endParaRPr lang="en-US" sz="3000" b="1" dirty="0"/>
          </a:p>
        </p:txBody>
      </p:sp>
      <p:sp>
        <p:nvSpPr>
          <p:cNvPr id="5" name="Shape 2"/>
          <p:cNvSpPr/>
          <p:nvPr/>
        </p:nvSpPr>
        <p:spPr>
          <a:xfrm>
            <a:off x="5070785" y="1548334"/>
            <a:ext cx="425748" cy="425748"/>
          </a:xfrm>
          <a:prstGeom prst="roundRect">
            <a:avLst>
              <a:gd name="adj" fmla="val 1789614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7862" y="1679266"/>
            <a:ext cx="191592" cy="191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33256" y="2101330"/>
            <a:ext cx="2065238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333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Reporting, Not Deciding</a:t>
            </a:r>
            <a:endParaRPr lang="en-US" sz="1333" b="1" dirty="0"/>
          </a:p>
        </p:txBody>
      </p:sp>
      <p:sp>
        <p:nvSpPr>
          <p:cNvPr id="8" name="Text 4"/>
          <p:cNvSpPr/>
          <p:nvPr/>
        </p:nvSpPr>
        <p:spPr>
          <a:xfrm>
            <a:off x="5133256" y="2381821"/>
            <a:ext cx="2967732" cy="575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333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Dashboards show SLA status, ticket counts, and averages but don't explain what's really happening on the ground.</a:t>
            </a:r>
            <a:endParaRPr lang="en-US" sz="1333" b="1" dirty="0"/>
          </a:p>
        </p:txBody>
      </p:sp>
      <p:sp>
        <p:nvSpPr>
          <p:cNvPr id="10" name="Shape 6"/>
          <p:cNvSpPr/>
          <p:nvPr/>
        </p:nvSpPr>
        <p:spPr>
          <a:xfrm>
            <a:off x="8484164" y="1505893"/>
            <a:ext cx="425748" cy="425748"/>
          </a:xfrm>
          <a:prstGeom prst="roundRect">
            <a:avLst>
              <a:gd name="adj" fmla="val 1789614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7387" y="1611521"/>
            <a:ext cx="191592" cy="191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64654" y="2101330"/>
            <a:ext cx="1774329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333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Firefighting Mode</a:t>
            </a:r>
            <a:endParaRPr lang="en-US" sz="1333" b="1" dirty="0"/>
          </a:p>
        </p:txBody>
      </p:sp>
      <p:sp>
        <p:nvSpPr>
          <p:cNvPr id="13" name="Text 8"/>
          <p:cNvSpPr/>
          <p:nvPr/>
        </p:nvSpPr>
        <p:spPr>
          <a:xfrm>
            <a:off x="8564653" y="2381821"/>
            <a:ext cx="2967832" cy="575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333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Leaders struggle to understand why customers are unhappy or why teams feel overloaded despite "green" KPIs.</a:t>
            </a:r>
            <a:endParaRPr lang="en-US" sz="1333" b="1" dirty="0"/>
          </a:p>
        </p:txBody>
      </p:sp>
      <p:sp>
        <p:nvSpPr>
          <p:cNvPr id="15" name="Shape 10"/>
          <p:cNvSpPr/>
          <p:nvPr/>
        </p:nvSpPr>
        <p:spPr>
          <a:xfrm>
            <a:off x="5080708" y="3246456"/>
            <a:ext cx="421165" cy="437123"/>
          </a:xfrm>
          <a:prstGeom prst="roundRect">
            <a:avLst>
              <a:gd name="adj" fmla="val 1789614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7862" y="3343845"/>
            <a:ext cx="191592" cy="191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04738" y="3789634"/>
            <a:ext cx="1774329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333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Missed Signals</a:t>
            </a:r>
            <a:endParaRPr lang="en-US" sz="1333" b="1" dirty="0"/>
          </a:p>
        </p:txBody>
      </p:sp>
      <p:sp>
        <p:nvSpPr>
          <p:cNvPr id="18" name="Text 12"/>
          <p:cNvSpPr/>
          <p:nvPr/>
        </p:nvSpPr>
        <p:spPr>
          <a:xfrm>
            <a:off x="5105549" y="4117442"/>
            <a:ext cx="6329958" cy="191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333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Warning signals exist well in advance, </a:t>
            </a:r>
          </a:p>
          <a:p>
            <a:pPr>
              <a:lnSpc>
                <a:spcPts val="1500"/>
              </a:lnSpc>
            </a:pPr>
            <a:r>
              <a:rPr lang="en-US" sz="1333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yet major incidents are treated as </a:t>
            </a:r>
          </a:p>
          <a:p>
            <a:pPr>
              <a:lnSpc>
                <a:spcPts val="1500"/>
              </a:lnSpc>
            </a:pPr>
            <a:r>
              <a:rPr lang="en-US" sz="1333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sudden disruptions.</a:t>
            </a:r>
            <a:endParaRPr lang="en-US" sz="1333" b="1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7B8A0560-C426-2B06-7303-74E30F36305A}"/>
              </a:ext>
            </a:extLst>
          </p:cNvPr>
          <p:cNvSpPr/>
          <p:nvPr/>
        </p:nvSpPr>
        <p:spPr>
          <a:xfrm>
            <a:off x="8484164" y="3734216"/>
            <a:ext cx="1774329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333" b="1" dirty="0">
                <a:solidFill>
                  <a:srgbClr val="E2E6E9"/>
                </a:solidFill>
              </a:rPr>
              <a:t>Reactive Metrics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5966D28D-7404-B0D1-DE8D-476AD9A2544D}"/>
              </a:ext>
            </a:extLst>
          </p:cNvPr>
          <p:cNvSpPr/>
          <p:nvPr/>
        </p:nvSpPr>
        <p:spPr>
          <a:xfrm>
            <a:off x="8484163" y="4025241"/>
            <a:ext cx="3415010" cy="73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333" b="1" dirty="0">
                <a:solidFill>
                  <a:srgbClr val="E2E6E9"/>
                </a:solidFill>
              </a:rPr>
              <a:t>Dashboards tell you what already happened, but rarely why it happened or what could happen next</a:t>
            </a:r>
            <a:r>
              <a:rPr lang="en-US" sz="1333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.</a:t>
            </a:r>
            <a:endParaRPr lang="en-US" sz="1333" b="1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9DC8A921-187E-E4DB-39FB-AB9E73C57B24}"/>
              </a:ext>
            </a:extLst>
          </p:cNvPr>
          <p:cNvSpPr/>
          <p:nvPr/>
        </p:nvSpPr>
        <p:spPr>
          <a:xfrm>
            <a:off x="5069154" y="5548714"/>
            <a:ext cx="1774329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333" b="1" dirty="0">
                <a:solidFill>
                  <a:srgbClr val="E2E6E9"/>
                </a:solidFill>
              </a:rPr>
              <a:t>Scattered Data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9C0470FC-2D4E-8EA2-E7D1-8D1847370C78}"/>
              </a:ext>
            </a:extLst>
          </p:cNvPr>
          <p:cNvSpPr/>
          <p:nvPr/>
        </p:nvSpPr>
        <p:spPr>
          <a:xfrm>
            <a:off x="5069153" y="5839739"/>
            <a:ext cx="3415010" cy="73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333" b="1" dirty="0">
                <a:solidFill>
                  <a:srgbClr val="E2E6E9"/>
                </a:solidFill>
              </a:rPr>
              <a:t>Important signals are scattered across tools  ticketing systems, monitoring platforms, </a:t>
            </a:r>
          </a:p>
          <a:p>
            <a:pPr>
              <a:lnSpc>
                <a:spcPts val="1917"/>
              </a:lnSpc>
            </a:pPr>
            <a:r>
              <a:rPr lang="en-US" sz="1333" b="1" dirty="0">
                <a:solidFill>
                  <a:srgbClr val="E2E6E9"/>
                </a:solidFill>
              </a:rPr>
              <a:t>CMDBs and change records.</a:t>
            </a: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86E54DB6-1BF5-A89E-3F1C-E53176BACD27}"/>
              </a:ext>
            </a:extLst>
          </p:cNvPr>
          <p:cNvSpPr/>
          <p:nvPr/>
        </p:nvSpPr>
        <p:spPr>
          <a:xfrm>
            <a:off x="8484164" y="5548714"/>
            <a:ext cx="1774329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333" b="1" dirty="0">
                <a:solidFill>
                  <a:srgbClr val="E2E6E9"/>
                </a:solidFill>
              </a:rPr>
              <a:t>No Clear Direction</a:t>
            </a: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1213454D-81BF-1BAD-6549-87CF0D3DBB06}"/>
              </a:ext>
            </a:extLst>
          </p:cNvPr>
          <p:cNvSpPr/>
          <p:nvPr/>
        </p:nvSpPr>
        <p:spPr>
          <a:xfrm>
            <a:off x="8484163" y="5839739"/>
            <a:ext cx="3415010" cy="73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endParaRPr lang="en-US" sz="1083" dirty="0">
              <a:solidFill>
                <a:srgbClr val="E2E6E9"/>
              </a:solidFill>
              <a:latin typeface="Merriweather" pitchFamily="34" charset="0"/>
            </a:endParaRPr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E5515997-817C-0AF0-BFA6-0C35D8C4591C}"/>
              </a:ext>
            </a:extLst>
          </p:cNvPr>
          <p:cNvSpPr/>
          <p:nvPr/>
        </p:nvSpPr>
        <p:spPr>
          <a:xfrm>
            <a:off x="5076125" y="5017907"/>
            <a:ext cx="425748" cy="425748"/>
          </a:xfrm>
          <a:prstGeom prst="roundRect">
            <a:avLst>
              <a:gd name="adj" fmla="val 1789614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 sz="150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ADE74340-4969-F846-7057-5196A34840B4}"/>
              </a:ext>
            </a:extLst>
          </p:cNvPr>
          <p:cNvSpPr/>
          <p:nvPr/>
        </p:nvSpPr>
        <p:spPr>
          <a:xfrm>
            <a:off x="8470309" y="5033605"/>
            <a:ext cx="425748" cy="425748"/>
          </a:xfrm>
          <a:prstGeom prst="roundRect">
            <a:avLst>
              <a:gd name="adj" fmla="val 1789614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 sz="1500" dirty="0"/>
          </a:p>
        </p:txBody>
      </p:sp>
      <p:pic>
        <p:nvPicPr>
          <p:cNvPr id="29" name="Image 3" descr="Firefighter female outline">
            <a:extLst>
              <a:ext uri="{FF2B5EF4-FFF2-40B4-BE49-F238E27FC236}">
                <a16:creationId xmlns:a16="http://schemas.microsoft.com/office/drawing/2014/main" id="{31FBA895-E0C2-2521-EDC0-E2B0B466F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704464" y="3372897"/>
            <a:ext cx="191592" cy="191592"/>
          </a:xfrm>
          <a:prstGeom prst="rect">
            <a:avLst/>
          </a:prstGeom>
        </p:spPr>
      </p:pic>
      <p:pic>
        <p:nvPicPr>
          <p:cNvPr id="30" name="Image 3" descr="Braille outline">
            <a:extLst>
              <a:ext uri="{FF2B5EF4-FFF2-40B4-BE49-F238E27FC236}">
                <a16:creationId xmlns:a16="http://schemas.microsoft.com/office/drawing/2014/main" id="{55490BAD-A698-0550-7682-472834A74B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179348" y="5128127"/>
            <a:ext cx="191592" cy="191592"/>
          </a:xfrm>
          <a:prstGeom prst="rect">
            <a:avLst/>
          </a:prstGeom>
        </p:spPr>
      </p:pic>
      <p:pic>
        <p:nvPicPr>
          <p:cNvPr id="31" name="Image 3" descr="Downstairs outline">
            <a:extLst>
              <a:ext uri="{FF2B5EF4-FFF2-40B4-BE49-F238E27FC236}">
                <a16:creationId xmlns:a16="http://schemas.microsoft.com/office/drawing/2014/main" id="{3A65B89A-3CDB-DC1E-F565-29224791C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596435" y="5150682"/>
            <a:ext cx="191592" cy="19159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5FA7919-827C-CA85-3FD6-A4EE82F8D0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799" y="-4521"/>
            <a:ext cx="4926355" cy="6848667"/>
          </a:xfrm>
          <a:prstGeom prst="rect">
            <a:avLst/>
          </a:prstGeom>
        </p:spPr>
      </p:pic>
      <p:sp>
        <p:nvSpPr>
          <p:cNvPr id="34" name="Text 2">
            <a:extLst>
              <a:ext uri="{FF2B5EF4-FFF2-40B4-BE49-F238E27FC236}">
                <a16:creationId xmlns:a16="http://schemas.microsoft.com/office/drawing/2014/main" id="{53416E7B-AECF-FB50-D683-FDABC004C9E0}"/>
              </a:ext>
            </a:extLst>
          </p:cNvPr>
          <p:cNvSpPr/>
          <p:nvPr/>
        </p:nvSpPr>
        <p:spPr>
          <a:xfrm>
            <a:off x="8484163" y="5812954"/>
            <a:ext cx="3415010" cy="730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7"/>
              </a:lnSpc>
            </a:pPr>
            <a:r>
              <a:rPr lang="en-US" sz="1333" b="1" dirty="0">
                <a:solidFill>
                  <a:srgbClr val="E2E6E9"/>
                </a:solidFill>
              </a:rPr>
              <a:t>Without predictive signals, early risk patterns remain invisible until they escalate into major incidents.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C2DB408-8C7C-7FB3-B4D2-2C7D0C2BE5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" y="19968"/>
            <a:ext cx="1579418" cy="8043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5659" y="705414"/>
            <a:ext cx="5586214" cy="59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66"/>
              </a:lnSpc>
            </a:pPr>
            <a:r>
              <a:rPr lang="en-US" sz="3000" b="1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From Data to Prevention</a:t>
            </a:r>
            <a:endParaRPr lang="en-US" sz="30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58" y="1541859"/>
            <a:ext cx="5430342" cy="7607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5762" y="2478385"/>
            <a:ext cx="237738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Data</a:t>
            </a:r>
            <a:endParaRPr lang="en-US" sz="1667" b="1" dirty="0"/>
          </a:p>
        </p:txBody>
      </p:sp>
      <p:sp>
        <p:nvSpPr>
          <p:cNvPr id="5" name="Text 2"/>
          <p:cNvSpPr/>
          <p:nvPr/>
        </p:nvSpPr>
        <p:spPr>
          <a:xfrm>
            <a:off x="855762" y="2881016"/>
            <a:ext cx="5050135" cy="58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Operational data from incidents, changes, assets, workloads, and customer experience</a:t>
            </a:r>
            <a:endParaRPr lang="en-US" sz="1500" b="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41859"/>
            <a:ext cx="5430342" cy="7607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6104" y="2478385"/>
            <a:ext cx="237738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Intelligence</a:t>
            </a:r>
            <a:endParaRPr lang="en-US" sz="1667" b="1" dirty="0"/>
          </a:p>
        </p:txBody>
      </p:sp>
      <p:sp>
        <p:nvSpPr>
          <p:cNvPr id="8" name="Text 4"/>
          <p:cNvSpPr/>
          <p:nvPr/>
        </p:nvSpPr>
        <p:spPr>
          <a:xfrm>
            <a:off x="6286103" y="2881016"/>
            <a:ext cx="5050135" cy="58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Connected service patterns transformed into forward-looking visibility</a:t>
            </a:r>
            <a:endParaRPr lang="en-US" sz="1500" b="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58" y="3656707"/>
            <a:ext cx="5430342" cy="7607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5762" y="4593233"/>
            <a:ext cx="237738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Decisions</a:t>
            </a:r>
            <a:endParaRPr lang="en-US" sz="1667" b="1" dirty="0"/>
          </a:p>
        </p:txBody>
      </p:sp>
      <p:sp>
        <p:nvSpPr>
          <p:cNvPr id="11" name="Text 6"/>
          <p:cNvSpPr/>
          <p:nvPr/>
        </p:nvSpPr>
        <p:spPr>
          <a:xfrm>
            <a:off x="855762" y="4995863"/>
            <a:ext cx="5050135" cy="58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Faster decisions and targeted interventions based on predictive signals</a:t>
            </a:r>
            <a:endParaRPr lang="en-US" sz="1500" b="1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656707"/>
            <a:ext cx="5430342" cy="7607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6104" y="4593233"/>
            <a:ext cx="237738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33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Prevention</a:t>
            </a:r>
            <a:endParaRPr lang="en-US" sz="1667" b="1" dirty="0"/>
          </a:p>
        </p:txBody>
      </p:sp>
      <p:sp>
        <p:nvSpPr>
          <p:cNvPr id="14" name="Text 8"/>
          <p:cNvSpPr/>
          <p:nvPr/>
        </p:nvSpPr>
        <p:spPr>
          <a:xfrm>
            <a:off x="6286103" y="4995863"/>
            <a:ext cx="5050135" cy="58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Proactive risk reduction and strategic enablers of business continuity</a:t>
            </a:r>
            <a:endParaRPr lang="en-US" sz="1500" b="1" dirty="0"/>
          </a:p>
        </p:txBody>
      </p:sp>
      <p:sp>
        <p:nvSpPr>
          <p:cNvPr id="15" name="Text 9"/>
          <p:cNvSpPr/>
          <p:nvPr/>
        </p:nvSpPr>
        <p:spPr>
          <a:xfrm>
            <a:off x="665659" y="5969397"/>
            <a:ext cx="10860683" cy="292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333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Operational data becomes powerful only when converted into intelligence that drives action.</a:t>
            </a:r>
            <a:endParaRPr lang="en-US" sz="1333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CD72548-703D-9330-DB8D-59F03E2040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19968"/>
            <a:ext cx="1579418" cy="8043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115" y="743050"/>
            <a:ext cx="4522490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16"/>
              </a:lnSpc>
            </a:pPr>
            <a:r>
              <a:rPr lang="en-US" sz="3000" b="1" dirty="0">
                <a:solidFill>
                  <a:srgbClr val="F5F0F0"/>
                </a:solidFill>
              </a:rPr>
              <a:t>Key Benefits Unleashed</a:t>
            </a:r>
            <a:endParaRPr lang="en-US" sz="3000" b="1" dirty="0"/>
          </a:p>
        </p:txBody>
      </p:sp>
      <p:sp>
        <p:nvSpPr>
          <p:cNvPr id="3" name="Text 1"/>
          <p:cNvSpPr/>
          <p:nvPr/>
        </p:nvSpPr>
        <p:spPr>
          <a:xfrm>
            <a:off x="633115" y="1460244"/>
            <a:ext cx="180876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417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417" dirty="0"/>
          </a:p>
        </p:txBody>
      </p:sp>
      <p:sp>
        <p:nvSpPr>
          <p:cNvPr id="4" name="Shape 2"/>
          <p:cNvSpPr/>
          <p:nvPr/>
        </p:nvSpPr>
        <p:spPr>
          <a:xfrm>
            <a:off x="633115" y="1742223"/>
            <a:ext cx="5383312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6" name="Text 4"/>
          <p:cNvSpPr/>
          <p:nvPr/>
        </p:nvSpPr>
        <p:spPr>
          <a:xfrm>
            <a:off x="633115" y="1978426"/>
            <a:ext cx="5383312" cy="2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Early Detection of Major Incident Risk</a:t>
            </a:r>
            <a:endParaRPr lang="en-US" b="1" dirty="0"/>
          </a:p>
        </p:txBody>
      </p:sp>
      <p:sp>
        <p:nvSpPr>
          <p:cNvPr id="7" name="Text 5"/>
          <p:cNvSpPr/>
          <p:nvPr/>
        </p:nvSpPr>
        <p:spPr>
          <a:xfrm>
            <a:off x="6175475" y="1460244"/>
            <a:ext cx="180876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417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417" dirty="0"/>
          </a:p>
        </p:txBody>
      </p:sp>
      <p:sp>
        <p:nvSpPr>
          <p:cNvPr id="8" name="Shape 6"/>
          <p:cNvSpPr/>
          <p:nvPr/>
        </p:nvSpPr>
        <p:spPr>
          <a:xfrm>
            <a:off x="6175475" y="1742223"/>
            <a:ext cx="5383411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10" name="Text 8"/>
          <p:cNvSpPr/>
          <p:nvPr/>
        </p:nvSpPr>
        <p:spPr>
          <a:xfrm>
            <a:off x="6265913" y="1973036"/>
            <a:ext cx="5383411" cy="2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b="1" dirty="0">
                <a:solidFill>
                  <a:schemeClr val="bg1"/>
                </a:solidFill>
              </a:rPr>
              <a:t>30–40% Reduction in Major Incident Frequency</a:t>
            </a:r>
          </a:p>
        </p:txBody>
      </p:sp>
      <p:sp>
        <p:nvSpPr>
          <p:cNvPr id="11" name="Text 9"/>
          <p:cNvSpPr/>
          <p:nvPr/>
        </p:nvSpPr>
        <p:spPr>
          <a:xfrm>
            <a:off x="633115" y="2994323"/>
            <a:ext cx="180876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417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417" dirty="0"/>
          </a:p>
        </p:txBody>
      </p:sp>
      <p:sp>
        <p:nvSpPr>
          <p:cNvPr id="12" name="Shape 10"/>
          <p:cNvSpPr/>
          <p:nvPr/>
        </p:nvSpPr>
        <p:spPr>
          <a:xfrm>
            <a:off x="633115" y="3276303"/>
            <a:ext cx="5383312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14" name="Text 12"/>
          <p:cNvSpPr/>
          <p:nvPr/>
        </p:nvSpPr>
        <p:spPr>
          <a:xfrm>
            <a:off x="633115" y="3795514"/>
            <a:ext cx="5383312" cy="2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b="1" dirty="0">
                <a:solidFill>
                  <a:schemeClr val="bg1"/>
                </a:solidFill>
              </a:rPr>
              <a:t>Faster Resolution Through Intelligent Workflows</a:t>
            </a:r>
          </a:p>
        </p:txBody>
      </p:sp>
      <p:sp>
        <p:nvSpPr>
          <p:cNvPr id="15" name="Text 13"/>
          <p:cNvSpPr/>
          <p:nvPr/>
        </p:nvSpPr>
        <p:spPr>
          <a:xfrm>
            <a:off x="6175475" y="2994323"/>
            <a:ext cx="180876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417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417" dirty="0"/>
          </a:p>
        </p:txBody>
      </p:sp>
      <p:sp>
        <p:nvSpPr>
          <p:cNvPr id="16" name="Shape 14"/>
          <p:cNvSpPr/>
          <p:nvPr/>
        </p:nvSpPr>
        <p:spPr>
          <a:xfrm>
            <a:off x="6175475" y="3276303"/>
            <a:ext cx="5383411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18" name="Text 16"/>
          <p:cNvSpPr/>
          <p:nvPr/>
        </p:nvSpPr>
        <p:spPr>
          <a:xfrm>
            <a:off x="6175475" y="3795514"/>
            <a:ext cx="5383411" cy="54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b="1" dirty="0">
                <a:solidFill>
                  <a:schemeClr val="bg1"/>
                </a:solidFill>
              </a:rPr>
              <a:t>SLA Reliability You Can Trust</a:t>
            </a:r>
          </a:p>
          <a:p>
            <a:pPr>
              <a:lnSpc>
                <a:spcPts val="2125"/>
              </a:lnSpc>
            </a:pPr>
            <a:endParaRPr lang="en-US" sz="1500" b="1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115" y="4703382"/>
            <a:ext cx="180876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417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1417" dirty="0"/>
          </a:p>
        </p:txBody>
      </p:sp>
      <p:sp>
        <p:nvSpPr>
          <p:cNvPr id="20" name="Shape 18"/>
          <p:cNvSpPr/>
          <p:nvPr/>
        </p:nvSpPr>
        <p:spPr>
          <a:xfrm>
            <a:off x="633115" y="4985362"/>
            <a:ext cx="5383312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22" name="Text 20"/>
          <p:cNvSpPr/>
          <p:nvPr/>
        </p:nvSpPr>
        <p:spPr>
          <a:xfrm>
            <a:off x="633115" y="5397756"/>
            <a:ext cx="4735298" cy="37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b="1" dirty="0">
                <a:solidFill>
                  <a:schemeClr val="bg1"/>
                </a:solidFill>
              </a:rPr>
              <a:t>Higher Customer Satisfaction with Smarter</a:t>
            </a:r>
          </a:p>
          <a:p>
            <a:pPr>
              <a:lnSpc>
                <a:spcPts val="2125"/>
              </a:lnSpc>
            </a:pPr>
            <a:r>
              <a:rPr lang="en-US" b="1" dirty="0">
                <a:solidFill>
                  <a:schemeClr val="bg1"/>
                </a:solidFill>
              </a:rPr>
              <a:t> Service Design</a:t>
            </a:r>
          </a:p>
          <a:p>
            <a:pPr>
              <a:lnSpc>
                <a:spcPts val="2125"/>
              </a:lnSpc>
            </a:pPr>
            <a:endParaRPr lang="en-US" sz="1500" b="1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75475" y="4703382"/>
            <a:ext cx="180876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417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06</a:t>
            </a:r>
            <a:endParaRPr lang="en-US" sz="1417" dirty="0"/>
          </a:p>
        </p:txBody>
      </p:sp>
      <p:sp>
        <p:nvSpPr>
          <p:cNvPr id="24" name="Shape 22"/>
          <p:cNvSpPr/>
          <p:nvPr/>
        </p:nvSpPr>
        <p:spPr>
          <a:xfrm>
            <a:off x="6175475" y="4985362"/>
            <a:ext cx="5383411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26" name="Text 24"/>
          <p:cNvSpPr/>
          <p:nvPr/>
        </p:nvSpPr>
        <p:spPr>
          <a:xfrm>
            <a:off x="6175474" y="5397757"/>
            <a:ext cx="5383411" cy="54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b="1" dirty="0">
                <a:solidFill>
                  <a:schemeClr val="bg1"/>
                </a:solidFill>
              </a:rPr>
              <a:t>Stronger Team Productivity Without Burnout</a:t>
            </a:r>
          </a:p>
          <a:p>
            <a:pPr>
              <a:lnSpc>
                <a:spcPts val="2125"/>
              </a:lnSpc>
            </a:pPr>
            <a:endParaRPr lang="en-US" sz="1500" b="1" dirty="0">
              <a:solidFill>
                <a:schemeClr val="bg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2563323-A5F0-2EBE-DCD9-6A3A2D6B3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968"/>
            <a:ext cx="1579418" cy="8043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DBBD5-826E-F747-B2CF-38E3FA05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78F7B8-6D46-EFD4-38D7-4ECB10323D0B}"/>
              </a:ext>
            </a:extLst>
          </p:cNvPr>
          <p:cNvSpPr/>
          <p:nvPr/>
        </p:nvSpPr>
        <p:spPr>
          <a:xfrm>
            <a:off x="633115" y="743050"/>
            <a:ext cx="4522490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16"/>
              </a:lnSpc>
            </a:pPr>
            <a:r>
              <a:rPr lang="en-US" sz="3000" b="1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Our Approach</a:t>
            </a:r>
            <a:endParaRPr lang="en-US" sz="30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797722-2BBC-8376-3CA8-1410709EF156}"/>
              </a:ext>
            </a:extLst>
          </p:cNvPr>
          <p:cNvSpPr/>
          <p:nvPr/>
        </p:nvSpPr>
        <p:spPr>
          <a:xfrm>
            <a:off x="633115" y="1460244"/>
            <a:ext cx="180876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417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417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9709EF5-5945-21D0-9E9C-839F9EA092D9}"/>
              </a:ext>
            </a:extLst>
          </p:cNvPr>
          <p:cNvSpPr/>
          <p:nvPr/>
        </p:nvSpPr>
        <p:spPr>
          <a:xfrm>
            <a:off x="633115" y="1742223"/>
            <a:ext cx="5383312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48DB0E-AFE9-C1F9-8C1C-5AD3146F4311}"/>
              </a:ext>
            </a:extLst>
          </p:cNvPr>
          <p:cNvSpPr/>
          <p:nvPr/>
        </p:nvSpPr>
        <p:spPr>
          <a:xfrm>
            <a:off x="633115" y="1883411"/>
            <a:ext cx="2261195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Discover</a:t>
            </a:r>
            <a:endParaRPr lang="en-US" sz="1667" b="1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87198E-73ED-AB3E-D2BE-E288E4EC8653}"/>
              </a:ext>
            </a:extLst>
          </p:cNvPr>
          <p:cNvSpPr/>
          <p:nvPr/>
        </p:nvSpPr>
        <p:spPr>
          <a:xfrm>
            <a:off x="633115" y="2261434"/>
            <a:ext cx="5383312" cy="2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Understanding ITSM operational realities, Support structure,</a:t>
            </a:r>
          </a:p>
          <a:p>
            <a:pPr>
              <a:lnSpc>
                <a:spcPts val="2125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SOPs, business agreed SLAs,  KPIs followed and pain areas</a:t>
            </a:r>
            <a:endParaRPr lang="en-US" sz="1500" b="1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B88B50-1596-F6F4-201C-DEF0D49C171F}"/>
              </a:ext>
            </a:extLst>
          </p:cNvPr>
          <p:cNvSpPr/>
          <p:nvPr/>
        </p:nvSpPr>
        <p:spPr>
          <a:xfrm>
            <a:off x="6175475" y="1460244"/>
            <a:ext cx="180876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417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417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1729DD6-8AB3-46E0-2DA1-F497064D8795}"/>
              </a:ext>
            </a:extLst>
          </p:cNvPr>
          <p:cNvSpPr/>
          <p:nvPr/>
        </p:nvSpPr>
        <p:spPr>
          <a:xfrm>
            <a:off x="6175475" y="1742223"/>
            <a:ext cx="5383411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5058FD2-9573-1641-936E-B9EFC70CBE80}"/>
              </a:ext>
            </a:extLst>
          </p:cNvPr>
          <p:cNvSpPr/>
          <p:nvPr/>
        </p:nvSpPr>
        <p:spPr>
          <a:xfrm>
            <a:off x="6175474" y="1883411"/>
            <a:ext cx="2261195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Data and Tool Feasibility</a:t>
            </a:r>
            <a:endParaRPr lang="en-US" sz="1667" b="1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B9E9F0C-20C3-A7F0-BC34-7EB78AE98B43}"/>
              </a:ext>
            </a:extLst>
          </p:cNvPr>
          <p:cNvSpPr/>
          <p:nvPr/>
        </p:nvSpPr>
        <p:spPr>
          <a:xfrm>
            <a:off x="6175475" y="2261434"/>
            <a:ext cx="5383411" cy="2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500" b="1" dirty="0">
                <a:solidFill>
                  <a:srgbClr val="E2E6E9"/>
                </a:solidFill>
              </a:rPr>
              <a:t>Exploring ticket data availability, Service Now or ITSM Tool </a:t>
            </a:r>
          </a:p>
          <a:p>
            <a:pPr>
              <a:lnSpc>
                <a:spcPts val="2125"/>
              </a:lnSpc>
            </a:pPr>
            <a:r>
              <a:rPr lang="en-US" sz="1500" b="1" dirty="0">
                <a:solidFill>
                  <a:srgbClr val="E2E6E9"/>
                </a:solidFill>
              </a:rPr>
              <a:t>Incident/Change/CMDB tables, Power BI integration, Licenses</a:t>
            </a:r>
            <a:endParaRPr lang="en-US" sz="15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CC1BB29-26E6-C216-05E7-48A9B6159AB4}"/>
              </a:ext>
            </a:extLst>
          </p:cNvPr>
          <p:cNvSpPr/>
          <p:nvPr/>
        </p:nvSpPr>
        <p:spPr>
          <a:xfrm>
            <a:off x="633115" y="2994323"/>
            <a:ext cx="180876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417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417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F621EF0-F0F0-FDFD-C15E-CA5554F1FB24}"/>
              </a:ext>
            </a:extLst>
          </p:cNvPr>
          <p:cNvSpPr/>
          <p:nvPr/>
        </p:nvSpPr>
        <p:spPr>
          <a:xfrm>
            <a:off x="633115" y="3276303"/>
            <a:ext cx="5383312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7653BE5-8246-BB0E-7CFD-4A27D2E06DED}"/>
              </a:ext>
            </a:extLst>
          </p:cNvPr>
          <p:cNvSpPr/>
          <p:nvPr/>
        </p:nvSpPr>
        <p:spPr>
          <a:xfrm>
            <a:off x="633115" y="3417491"/>
            <a:ext cx="2261195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Design and Development</a:t>
            </a:r>
            <a:endParaRPr lang="en-US" sz="1667" b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8AFE5EF-976F-8E0E-F466-CA1688E2FD8B}"/>
              </a:ext>
            </a:extLst>
          </p:cNvPr>
          <p:cNvSpPr/>
          <p:nvPr/>
        </p:nvSpPr>
        <p:spPr>
          <a:xfrm>
            <a:off x="633115" y="3795514"/>
            <a:ext cx="5383312" cy="2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Data Preparation, creating reliable data models. Developing</a:t>
            </a:r>
          </a:p>
          <a:p>
            <a:pPr>
              <a:lnSpc>
                <a:spcPts val="2125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Intelligent KPI metrics, back-end coding and review</a:t>
            </a:r>
            <a:endParaRPr lang="en-US" sz="1500" b="1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42F9634-51D3-7B1E-331E-B4684BBBC2EC}"/>
              </a:ext>
            </a:extLst>
          </p:cNvPr>
          <p:cNvSpPr/>
          <p:nvPr/>
        </p:nvSpPr>
        <p:spPr>
          <a:xfrm>
            <a:off x="6175475" y="2994323"/>
            <a:ext cx="180876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417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417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BC2E8E9-4698-A91D-A0F6-871B3EFD2D75}"/>
              </a:ext>
            </a:extLst>
          </p:cNvPr>
          <p:cNvSpPr/>
          <p:nvPr/>
        </p:nvSpPr>
        <p:spPr>
          <a:xfrm>
            <a:off x="6175475" y="3276303"/>
            <a:ext cx="5383411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0B97905-436F-2A13-37DC-425FB68AE0FA}"/>
              </a:ext>
            </a:extLst>
          </p:cNvPr>
          <p:cNvSpPr/>
          <p:nvPr/>
        </p:nvSpPr>
        <p:spPr>
          <a:xfrm>
            <a:off x="6175474" y="3417491"/>
            <a:ext cx="2261195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Visualize</a:t>
            </a:r>
            <a:endParaRPr lang="en-US" sz="1667" b="1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1A32D43-C941-1649-5134-F3D9285A8AFC}"/>
              </a:ext>
            </a:extLst>
          </p:cNvPr>
          <p:cNvSpPr/>
          <p:nvPr/>
        </p:nvSpPr>
        <p:spPr>
          <a:xfrm>
            <a:off x="6175475" y="3795514"/>
            <a:ext cx="5383411" cy="54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Build interactive dashboards, decision ready and insightful visuals.  Predictive flagging of Potential Major Incidents with live ticket data for quicker actions</a:t>
            </a:r>
            <a:endParaRPr lang="en-US" sz="1500" b="1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EB8A6B2-5FAC-2D06-C432-6D37A162D0D0}"/>
              </a:ext>
            </a:extLst>
          </p:cNvPr>
          <p:cNvSpPr/>
          <p:nvPr/>
        </p:nvSpPr>
        <p:spPr>
          <a:xfrm>
            <a:off x="633115" y="4703382"/>
            <a:ext cx="180876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417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1417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29705E5-6C1C-3329-09DA-674031359AA1}"/>
              </a:ext>
            </a:extLst>
          </p:cNvPr>
          <p:cNvSpPr/>
          <p:nvPr/>
        </p:nvSpPr>
        <p:spPr>
          <a:xfrm>
            <a:off x="633115" y="4985362"/>
            <a:ext cx="5383312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5CEE71F-6359-248E-199D-C531CAE9989C}"/>
              </a:ext>
            </a:extLst>
          </p:cNvPr>
          <p:cNvSpPr/>
          <p:nvPr/>
        </p:nvSpPr>
        <p:spPr>
          <a:xfrm>
            <a:off x="633115" y="5126550"/>
            <a:ext cx="2261195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Automate</a:t>
            </a:r>
            <a:endParaRPr lang="en-US" sz="1667" b="1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50AD888-E50A-92FD-4C31-5A4080BEE9DA}"/>
              </a:ext>
            </a:extLst>
          </p:cNvPr>
          <p:cNvSpPr/>
          <p:nvPr/>
        </p:nvSpPr>
        <p:spPr>
          <a:xfrm>
            <a:off x="633115" y="5504574"/>
            <a:ext cx="5383312" cy="271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Build automated early-warning systems that trigger auto</a:t>
            </a:r>
          </a:p>
          <a:p>
            <a:pPr>
              <a:lnSpc>
                <a:spcPts val="2125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notification of risky tickets</a:t>
            </a:r>
            <a:endParaRPr lang="en-US" sz="1500" b="1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E0C839B-97D5-2A35-85AF-44B5A6F2392C}"/>
              </a:ext>
            </a:extLst>
          </p:cNvPr>
          <p:cNvSpPr/>
          <p:nvPr/>
        </p:nvSpPr>
        <p:spPr>
          <a:xfrm>
            <a:off x="6175475" y="4703382"/>
            <a:ext cx="180876" cy="22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417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06</a:t>
            </a:r>
            <a:endParaRPr lang="en-US" sz="1417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AB2381C-2B00-44F7-E4A1-D452718FF448}"/>
              </a:ext>
            </a:extLst>
          </p:cNvPr>
          <p:cNvSpPr/>
          <p:nvPr/>
        </p:nvSpPr>
        <p:spPr>
          <a:xfrm>
            <a:off x="6175475" y="4985362"/>
            <a:ext cx="5383411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4A9DF64-81BE-EA20-566F-29B2413D4D7B}"/>
              </a:ext>
            </a:extLst>
          </p:cNvPr>
          <p:cNvSpPr/>
          <p:nvPr/>
        </p:nvSpPr>
        <p:spPr>
          <a:xfrm>
            <a:off x="6175474" y="5126550"/>
            <a:ext cx="2261195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Enable</a:t>
            </a:r>
            <a:endParaRPr lang="en-US" sz="1667" b="1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1A3614F-5CAD-BF56-785A-697BCCF5A2E7}"/>
              </a:ext>
            </a:extLst>
          </p:cNvPr>
          <p:cNvSpPr/>
          <p:nvPr/>
        </p:nvSpPr>
        <p:spPr>
          <a:xfrm>
            <a:off x="6175475" y="5504574"/>
            <a:ext cx="5383411" cy="543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Ensure teams confidently adopt intelligence-led insightful dashboard for daily operational practices</a:t>
            </a:r>
            <a:endParaRPr lang="en-US" sz="1500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452BC6B-80A6-ECA9-3184-753F36DA7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968"/>
            <a:ext cx="1579418" cy="80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41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8055F564-F9FF-C950-B05D-2F679E3C6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083" y="14372"/>
            <a:ext cx="4442918" cy="684362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22002" y="776387"/>
            <a:ext cx="4442917" cy="555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3000" b="1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What We Deliver</a:t>
            </a:r>
            <a:endParaRPr lang="en-US" sz="3000" b="1" dirty="0"/>
          </a:p>
        </p:txBody>
      </p:sp>
      <p:pic>
        <p:nvPicPr>
          <p:cNvPr id="3" name="Image 0" descr="Present outli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22000" y="4580454"/>
            <a:ext cx="444203" cy="444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003" y="2067076"/>
            <a:ext cx="2221408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Intelligence Metrics</a:t>
            </a:r>
            <a:endParaRPr lang="en-US" sz="1667" b="1" dirty="0"/>
          </a:p>
        </p:txBody>
      </p:sp>
      <p:sp>
        <p:nvSpPr>
          <p:cNvPr id="5" name="Text 2"/>
          <p:cNvSpPr/>
          <p:nvPr/>
        </p:nvSpPr>
        <p:spPr>
          <a:xfrm>
            <a:off x="622003" y="2436765"/>
            <a:ext cx="537805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Predictive operational metrics aligned to business priorities</a:t>
            </a:r>
            <a:endParaRPr lang="en-US" sz="1500" b="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1944" y="1512639"/>
            <a:ext cx="444203" cy="4442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1944" y="2067076"/>
            <a:ext cx="2246213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Decision Dashboards</a:t>
            </a:r>
            <a:endParaRPr lang="en-US" sz="1667" b="1" dirty="0"/>
          </a:p>
        </p:txBody>
      </p:sp>
      <p:sp>
        <p:nvSpPr>
          <p:cNvPr id="8" name="Text 4"/>
          <p:cNvSpPr/>
          <p:nvPr/>
        </p:nvSpPr>
        <p:spPr>
          <a:xfrm>
            <a:off x="6191944" y="2436765"/>
            <a:ext cx="537805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Executive-ready dashboards with forward-looking visibility</a:t>
            </a:r>
            <a:endParaRPr lang="en-US" sz="1500" b="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003" y="3008760"/>
            <a:ext cx="444203" cy="4442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002" y="3644852"/>
            <a:ext cx="2481362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Early Warning Systems</a:t>
            </a:r>
            <a:endParaRPr lang="en-US" sz="1667" b="1" dirty="0"/>
          </a:p>
        </p:txBody>
      </p:sp>
      <p:sp>
        <p:nvSpPr>
          <p:cNvPr id="11" name="Text 6"/>
          <p:cNvSpPr/>
          <p:nvPr/>
        </p:nvSpPr>
        <p:spPr>
          <a:xfrm>
            <a:off x="622003" y="4014541"/>
            <a:ext cx="537805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Automated risk alerts that surface emerging issues</a:t>
            </a:r>
            <a:endParaRPr lang="en-US" sz="1500" b="1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1944" y="3008760"/>
            <a:ext cx="444203" cy="4442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1944" y="3644852"/>
            <a:ext cx="2221408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Leadership Insights</a:t>
            </a:r>
            <a:endParaRPr lang="en-US" sz="1667" b="1" dirty="0"/>
          </a:p>
        </p:txBody>
      </p:sp>
      <p:sp>
        <p:nvSpPr>
          <p:cNvPr id="14" name="Text 8"/>
          <p:cNvSpPr/>
          <p:nvPr/>
        </p:nvSpPr>
        <p:spPr>
          <a:xfrm>
            <a:off x="6191944" y="4014541"/>
            <a:ext cx="5378053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5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Insight frameworks that guide confident, data-backed decisions</a:t>
            </a:r>
            <a:endParaRPr lang="en-US" sz="1500" b="1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9101E6AF-8F5E-1748-5919-7D55E03215A0}"/>
              </a:ext>
            </a:extLst>
          </p:cNvPr>
          <p:cNvSpPr/>
          <p:nvPr/>
        </p:nvSpPr>
        <p:spPr>
          <a:xfrm>
            <a:off x="622002" y="5101487"/>
            <a:ext cx="2481362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667" b="1" dirty="0">
                <a:solidFill>
                  <a:srgbClr val="E2E6E9"/>
                </a:solidFill>
              </a:rPr>
              <a:t>Bonus Items</a:t>
            </a:r>
            <a:endParaRPr lang="en-US" sz="1667" b="1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F52300EE-6609-12EB-B242-9059EA8799F8}"/>
              </a:ext>
            </a:extLst>
          </p:cNvPr>
          <p:cNvSpPr/>
          <p:nvPr/>
        </p:nvSpPr>
        <p:spPr>
          <a:xfrm>
            <a:off x="622003" y="5461206"/>
            <a:ext cx="8951488" cy="336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500" b="1" dirty="0">
                <a:solidFill>
                  <a:srgbClr val="E2E6E9"/>
                </a:solidFill>
              </a:rPr>
              <a:t>Advanced visual to monitor open incidents linked to CIs with active change up to 48-hour post Change completion</a:t>
            </a:r>
          </a:p>
          <a:p>
            <a:pPr>
              <a:lnSpc>
                <a:spcPts val="2083"/>
              </a:lnSpc>
            </a:pPr>
            <a:r>
              <a:rPr lang="en-US" sz="1500" b="1" dirty="0">
                <a:solidFill>
                  <a:srgbClr val="E2E6E9"/>
                </a:solidFill>
              </a:rPr>
              <a:t>Dedicated post-implementation support (6 advisory sessions over 90 days)</a:t>
            </a:r>
          </a:p>
          <a:p>
            <a:pPr>
              <a:lnSpc>
                <a:spcPts val="2083"/>
              </a:lnSpc>
            </a:pPr>
            <a:r>
              <a:rPr lang="en-US" sz="1500" b="1" dirty="0">
                <a:solidFill>
                  <a:srgbClr val="E2E6E9"/>
                </a:solidFill>
              </a:rPr>
              <a:t>Instructor-led training on Power BI dashboard management (3 hours)</a:t>
            </a:r>
          </a:p>
          <a:p>
            <a:pPr>
              <a:lnSpc>
                <a:spcPts val="2083"/>
              </a:lnSpc>
            </a:pPr>
            <a:r>
              <a:rPr lang="en-US" sz="1500" b="1" dirty="0">
                <a:solidFill>
                  <a:srgbClr val="E2E6E9"/>
                </a:solidFill>
              </a:rPr>
              <a:t>Expert coaching on ITSM best practices and operational excellence (2 hours)</a:t>
            </a:r>
            <a:endParaRPr lang="en-US" sz="1500" b="1" dirty="0"/>
          </a:p>
        </p:txBody>
      </p:sp>
      <p:pic>
        <p:nvPicPr>
          <p:cNvPr id="25" name="Image 0" descr="Robot outline">
            <a:extLst>
              <a:ext uri="{FF2B5EF4-FFF2-40B4-BE49-F238E27FC236}">
                <a16:creationId xmlns:a16="http://schemas.microsoft.com/office/drawing/2014/main" id="{C475BB50-D392-9BA8-74D7-412E8D038D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21999" y="1504070"/>
            <a:ext cx="444203" cy="44420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2777595-9580-A6BC-616B-FD3B94B40E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" y="19968"/>
            <a:ext cx="1579418" cy="8043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94DF22-4676-7BE7-8662-D559D0584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037" y="0"/>
            <a:ext cx="628996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1174" y="1272479"/>
            <a:ext cx="6180336" cy="1928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3000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8-Week ITSM </a:t>
            </a:r>
          </a:p>
          <a:p>
            <a:pPr>
              <a:lnSpc>
                <a:spcPts val="5041"/>
              </a:lnSpc>
            </a:pPr>
            <a:r>
              <a:rPr lang="en-US" sz="3000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Decision Intelligence Delivery Plan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59611" y="3889276"/>
            <a:ext cx="6180336" cy="65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2333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A transformation roadmap from operational </a:t>
            </a:r>
          </a:p>
          <a:p>
            <a:pPr>
              <a:lnSpc>
                <a:spcPts val="2583"/>
              </a:lnSpc>
            </a:pPr>
            <a:r>
              <a:rPr lang="en-US" sz="2333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discovery to real-time intelligence</a:t>
            </a:r>
            <a:endParaRPr lang="en-US" sz="2333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C3C8EB-234A-2EE1-9A49-1DF2F34E4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9968"/>
            <a:ext cx="1579418" cy="8043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32" y="1064519"/>
            <a:ext cx="7816949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3000" b="1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Weeks 1-4: Foundation Building</a:t>
            </a:r>
            <a:endParaRPr lang="en-US" sz="3000" b="1" dirty="0"/>
          </a:p>
        </p:txBody>
      </p:sp>
      <p:sp>
        <p:nvSpPr>
          <p:cNvPr id="3" name="Text 1"/>
          <p:cNvSpPr/>
          <p:nvPr/>
        </p:nvSpPr>
        <p:spPr>
          <a:xfrm>
            <a:off x="719832" y="2118619"/>
            <a:ext cx="20568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583" dirty="0"/>
          </a:p>
        </p:txBody>
      </p:sp>
      <p:sp>
        <p:nvSpPr>
          <p:cNvPr id="4" name="Shape 2"/>
          <p:cNvSpPr/>
          <p:nvPr/>
        </p:nvSpPr>
        <p:spPr>
          <a:xfrm>
            <a:off x="719832" y="2442766"/>
            <a:ext cx="5273278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5" name="Text 3"/>
          <p:cNvSpPr/>
          <p:nvPr/>
        </p:nvSpPr>
        <p:spPr>
          <a:xfrm>
            <a:off x="719832" y="2596357"/>
            <a:ext cx="274845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Operational Discovery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719832" y="3040956"/>
            <a:ext cx="5273278" cy="65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ITSM process walkthrough, stakeholder interviews, pain point mapping, KPI assessment, Support SOPs</a:t>
            </a:r>
            <a:endParaRPr lang="en-US" sz="1667" b="1" dirty="0"/>
          </a:p>
        </p:txBody>
      </p:sp>
      <p:sp>
        <p:nvSpPr>
          <p:cNvPr id="7" name="Text 5"/>
          <p:cNvSpPr/>
          <p:nvPr/>
        </p:nvSpPr>
        <p:spPr>
          <a:xfrm>
            <a:off x="6198791" y="2118619"/>
            <a:ext cx="20568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583" dirty="0"/>
          </a:p>
        </p:txBody>
      </p:sp>
      <p:sp>
        <p:nvSpPr>
          <p:cNvPr id="8" name="Shape 6"/>
          <p:cNvSpPr/>
          <p:nvPr/>
        </p:nvSpPr>
        <p:spPr>
          <a:xfrm>
            <a:off x="6198791" y="2442766"/>
            <a:ext cx="5273378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9" name="Text 7"/>
          <p:cNvSpPr/>
          <p:nvPr/>
        </p:nvSpPr>
        <p:spPr>
          <a:xfrm>
            <a:off x="6198791" y="2596357"/>
            <a:ext cx="257115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Data and Tool Exploration</a:t>
            </a:r>
            <a:endParaRPr lang="en-US" sz="2000" b="1" dirty="0"/>
          </a:p>
        </p:txBody>
      </p:sp>
      <p:sp>
        <p:nvSpPr>
          <p:cNvPr id="10" name="Text 8"/>
          <p:cNvSpPr/>
          <p:nvPr/>
        </p:nvSpPr>
        <p:spPr>
          <a:xfrm>
            <a:off x="6198791" y="3040956"/>
            <a:ext cx="5273378" cy="65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Ticket Data availability check, ITSM Tool’s Incident, Change, CMDB tables accessibility, visualization methods and visuals implemented</a:t>
            </a:r>
            <a:endParaRPr lang="en-US" sz="1667" b="1" dirty="0"/>
          </a:p>
        </p:txBody>
      </p:sp>
      <p:sp>
        <p:nvSpPr>
          <p:cNvPr id="11" name="Text 9"/>
          <p:cNvSpPr/>
          <p:nvPr/>
        </p:nvSpPr>
        <p:spPr>
          <a:xfrm>
            <a:off x="719832" y="4058841"/>
            <a:ext cx="20568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583" dirty="0"/>
          </a:p>
        </p:txBody>
      </p:sp>
      <p:sp>
        <p:nvSpPr>
          <p:cNvPr id="12" name="Shape 10"/>
          <p:cNvSpPr/>
          <p:nvPr/>
        </p:nvSpPr>
        <p:spPr>
          <a:xfrm>
            <a:off x="719832" y="4382988"/>
            <a:ext cx="5273278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13" name="Text 11"/>
          <p:cNvSpPr/>
          <p:nvPr/>
        </p:nvSpPr>
        <p:spPr>
          <a:xfrm>
            <a:off x="719832" y="4536579"/>
            <a:ext cx="257115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Missing KPI Analysis</a:t>
            </a:r>
            <a:endParaRPr lang="en-US" sz="2000" b="1" dirty="0"/>
          </a:p>
        </p:txBody>
      </p:sp>
      <p:sp>
        <p:nvSpPr>
          <p:cNvPr id="14" name="Text 12"/>
          <p:cNvSpPr/>
          <p:nvPr/>
        </p:nvSpPr>
        <p:spPr>
          <a:xfrm>
            <a:off x="719832" y="4981179"/>
            <a:ext cx="5273278" cy="65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Study of Existing KPIs and  finalizing new KPIs required to bridge the analysis gaps</a:t>
            </a:r>
            <a:endParaRPr lang="en-US" sz="1667" b="1" dirty="0"/>
          </a:p>
        </p:txBody>
      </p:sp>
      <p:sp>
        <p:nvSpPr>
          <p:cNvPr id="15" name="Text 13"/>
          <p:cNvSpPr/>
          <p:nvPr/>
        </p:nvSpPr>
        <p:spPr>
          <a:xfrm>
            <a:off x="6198791" y="4058841"/>
            <a:ext cx="20568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583" dirty="0"/>
          </a:p>
        </p:txBody>
      </p:sp>
      <p:sp>
        <p:nvSpPr>
          <p:cNvPr id="16" name="Shape 14"/>
          <p:cNvSpPr/>
          <p:nvPr/>
        </p:nvSpPr>
        <p:spPr>
          <a:xfrm>
            <a:off x="6198791" y="4382988"/>
            <a:ext cx="5273378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17" name="Text 15"/>
          <p:cNvSpPr/>
          <p:nvPr/>
        </p:nvSpPr>
        <p:spPr>
          <a:xfrm>
            <a:off x="6198791" y="4536579"/>
            <a:ext cx="257115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Design and Development</a:t>
            </a:r>
            <a:endParaRPr lang="en-US" sz="2000" b="1" dirty="0"/>
          </a:p>
        </p:txBody>
      </p:sp>
      <p:sp>
        <p:nvSpPr>
          <p:cNvPr id="18" name="Text 16"/>
          <p:cNvSpPr/>
          <p:nvPr/>
        </p:nvSpPr>
        <p:spPr>
          <a:xfrm>
            <a:off x="6198791" y="4981179"/>
            <a:ext cx="5273378" cy="65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Data Preparation, creating reliable data models. Developing</a:t>
            </a:r>
          </a:p>
          <a:p>
            <a:pPr>
              <a:lnSpc>
                <a:spcPts val="2125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Intelligent KPI metrics, back-end coding and review</a:t>
            </a:r>
            <a:endParaRPr lang="en-US" sz="1667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D380167-3803-6440-CE34-4B83EEACA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968"/>
            <a:ext cx="1579418" cy="8043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32" y="1064519"/>
            <a:ext cx="7231360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041"/>
              </a:lnSpc>
            </a:pPr>
            <a:r>
              <a:rPr lang="en-US" sz="3000" b="1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Weeks 5-8: Intelligence Layer</a:t>
            </a:r>
            <a:endParaRPr lang="en-US" sz="3000" b="1" dirty="0"/>
          </a:p>
        </p:txBody>
      </p:sp>
      <p:sp>
        <p:nvSpPr>
          <p:cNvPr id="3" name="Text 1"/>
          <p:cNvSpPr/>
          <p:nvPr/>
        </p:nvSpPr>
        <p:spPr>
          <a:xfrm>
            <a:off x="719832" y="2118619"/>
            <a:ext cx="20568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1583" dirty="0"/>
          </a:p>
        </p:txBody>
      </p:sp>
      <p:sp>
        <p:nvSpPr>
          <p:cNvPr id="4" name="Shape 2"/>
          <p:cNvSpPr/>
          <p:nvPr/>
        </p:nvSpPr>
        <p:spPr>
          <a:xfrm>
            <a:off x="719832" y="2442766"/>
            <a:ext cx="5273278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5" name="Text 3"/>
          <p:cNvSpPr/>
          <p:nvPr/>
        </p:nvSpPr>
        <p:spPr>
          <a:xfrm>
            <a:off x="719832" y="2596357"/>
            <a:ext cx="257115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Data Visualization - 1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719832" y="3040956"/>
            <a:ext cx="5273278" cy="65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Build interactive dashboards, decision ready and insightful visuals.  1</a:t>
            </a:r>
            <a:r>
              <a:rPr lang="en-US" sz="1667" b="1" baseline="300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st</a:t>
            </a: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 Iteration call on Filters required, dashboard aesthetics, any challenges faced</a:t>
            </a:r>
            <a:endParaRPr lang="en-US" sz="1667" b="1" dirty="0"/>
          </a:p>
        </p:txBody>
      </p:sp>
      <p:sp>
        <p:nvSpPr>
          <p:cNvPr id="7" name="Text 5"/>
          <p:cNvSpPr/>
          <p:nvPr/>
        </p:nvSpPr>
        <p:spPr>
          <a:xfrm>
            <a:off x="6198791" y="2118619"/>
            <a:ext cx="20568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06</a:t>
            </a:r>
            <a:endParaRPr lang="en-US" sz="1583" dirty="0"/>
          </a:p>
        </p:txBody>
      </p:sp>
      <p:sp>
        <p:nvSpPr>
          <p:cNvPr id="8" name="Shape 6"/>
          <p:cNvSpPr/>
          <p:nvPr/>
        </p:nvSpPr>
        <p:spPr>
          <a:xfrm>
            <a:off x="6198791" y="2442766"/>
            <a:ext cx="5273378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9" name="Text 7"/>
          <p:cNvSpPr/>
          <p:nvPr/>
        </p:nvSpPr>
        <p:spPr>
          <a:xfrm>
            <a:off x="6198791" y="2596357"/>
            <a:ext cx="257115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Data Visualization - 2</a:t>
            </a:r>
            <a:endParaRPr lang="en-US" sz="2000" b="1" dirty="0"/>
          </a:p>
        </p:txBody>
      </p:sp>
      <p:sp>
        <p:nvSpPr>
          <p:cNvPr id="10" name="Text 8"/>
          <p:cNvSpPr/>
          <p:nvPr/>
        </p:nvSpPr>
        <p:spPr>
          <a:xfrm>
            <a:off x="6198791" y="3040956"/>
            <a:ext cx="5273378" cy="65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Predictive flagging of Potential Major Incidents with live ticket data for quicker actions. 2</a:t>
            </a:r>
            <a:r>
              <a:rPr lang="en-US" sz="1667" b="1" baseline="30000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nd</a:t>
            </a: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 Iteration call on progress, review, feedback and challenges</a:t>
            </a:r>
            <a:endParaRPr lang="en-US" sz="1667" b="1" dirty="0"/>
          </a:p>
        </p:txBody>
      </p:sp>
      <p:sp>
        <p:nvSpPr>
          <p:cNvPr id="11" name="Text 9"/>
          <p:cNvSpPr/>
          <p:nvPr/>
        </p:nvSpPr>
        <p:spPr>
          <a:xfrm>
            <a:off x="719832" y="4058841"/>
            <a:ext cx="20568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07</a:t>
            </a:r>
            <a:endParaRPr lang="en-US" sz="1583" dirty="0"/>
          </a:p>
        </p:txBody>
      </p:sp>
      <p:sp>
        <p:nvSpPr>
          <p:cNvPr id="12" name="Shape 10"/>
          <p:cNvSpPr/>
          <p:nvPr/>
        </p:nvSpPr>
        <p:spPr>
          <a:xfrm>
            <a:off x="719832" y="4382988"/>
            <a:ext cx="5273278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13" name="Text 11"/>
          <p:cNvSpPr/>
          <p:nvPr/>
        </p:nvSpPr>
        <p:spPr>
          <a:xfrm>
            <a:off x="719832" y="4536579"/>
            <a:ext cx="257115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Automation</a:t>
            </a:r>
            <a:endParaRPr lang="en-US" sz="2000" b="1" dirty="0"/>
          </a:p>
        </p:txBody>
      </p:sp>
      <p:sp>
        <p:nvSpPr>
          <p:cNvPr id="14" name="Text 12"/>
          <p:cNvSpPr/>
          <p:nvPr/>
        </p:nvSpPr>
        <p:spPr>
          <a:xfrm>
            <a:off x="719832" y="4981179"/>
            <a:ext cx="5273278" cy="65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Build automated early-warning systems that trigger auto</a:t>
            </a:r>
          </a:p>
          <a:p>
            <a:pPr>
              <a:lnSpc>
                <a:spcPts val="2125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notification of risky tickets</a:t>
            </a:r>
            <a:endParaRPr lang="en-US" sz="1667" b="1" dirty="0"/>
          </a:p>
        </p:txBody>
      </p:sp>
      <p:sp>
        <p:nvSpPr>
          <p:cNvPr id="15" name="Text 13"/>
          <p:cNvSpPr/>
          <p:nvPr/>
        </p:nvSpPr>
        <p:spPr>
          <a:xfrm>
            <a:off x="6198791" y="4058841"/>
            <a:ext cx="205681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83"/>
              </a:lnSpc>
            </a:pPr>
            <a:r>
              <a:rPr lang="en-US" sz="1583" dirty="0">
                <a:solidFill>
                  <a:srgbClr val="E2E6E9"/>
                </a:solidFill>
                <a:latin typeface="Merriweather Light" pitchFamily="34" charset="0"/>
              </a:rPr>
              <a:t>08</a:t>
            </a:r>
            <a:endParaRPr lang="en-US" sz="1583" dirty="0"/>
          </a:p>
        </p:txBody>
      </p:sp>
      <p:sp>
        <p:nvSpPr>
          <p:cNvPr id="16" name="Shape 14"/>
          <p:cNvSpPr/>
          <p:nvPr/>
        </p:nvSpPr>
        <p:spPr>
          <a:xfrm>
            <a:off x="6198791" y="4382988"/>
            <a:ext cx="5273378" cy="2540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17" name="Text 15"/>
          <p:cNvSpPr/>
          <p:nvPr/>
        </p:nvSpPr>
        <p:spPr>
          <a:xfrm>
            <a:off x="6198791" y="4536579"/>
            <a:ext cx="257115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Enablement</a:t>
            </a:r>
            <a:endParaRPr lang="en-US" sz="2000" b="1" dirty="0"/>
          </a:p>
        </p:txBody>
      </p:sp>
      <p:sp>
        <p:nvSpPr>
          <p:cNvPr id="18" name="Text 16"/>
          <p:cNvSpPr/>
          <p:nvPr/>
        </p:nvSpPr>
        <p:spPr>
          <a:xfrm>
            <a:off x="6198791" y="4981179"/>
            <a:ext cx="5273378" cy="658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Ensure teams confidently adopt intelligence-led insightful dashboard for daily operational practices</a:t>
            </a:r>
            <a:endParaRPr lang="en-US" sz="1667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C659241-64EB-36F2-1DDD-D5C1A38EF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968"/>
            <a:ext cx="1579418" cy="8043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80214" y="307669"/>
            <a:ext cx="4411167" cy="55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4333"/>
              </a:lnSpc>
            </a:pPr>
            <a:r>
              <a:rPr lang="en-US" sz="3000" b="1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Few Super Intelligent KPI Metrics</a:t>
            </a:r>
            <a:endParaRPr lang="en-US" sz="3000" b="1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1BA6663-021A-8539-4BA5-6A444ACFD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288350"/>
              </p:ext>
            </p:extLst>
          </p:nvPr>
        </p:nvGraphicFramePr>
        <p:xfrm>
          <a:off x="267854" y="902485"/>
          <a:ext cx="11656292" cy="5688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073">
                  <a:extLst>
                    <a:ext uri="{9D8B030D-6E8A-4147-A177-3AD203B41FA5}">
                      <a16:colId xmlns:a16="http://schemas.microsoft.com/office/drawing/2014/main" val="379049134"/>
                    </a:ext>
                  </a:extLst>
                </a:gridCol>
                <a:gridCol w="2914073">
                  <a:extLst>
                    <a:ext uri="{9D8B030D-6E8A-4147-A177-3AD203B41FA5}">
                      <a16:colId xmlns:a16="http://schemas.microsoft.com/office/drawing/2014/main" val="3590385982"/>
                    </a:ext>
                  </a:extLst>
                </a:gridCol>
                <a:gridCol w="2914073">
                  <a:extLst>
                    <a:ext uri="{9D8B030D-6E8A-4147-A177-3AD203B41FA5}">
                      <a16:colId xmlns:a16="http://schemas.microsoft.com/office/drawing/2014/main" val="2239355305"/>
                    </a:ext>
                  </a:extLst>
                </a:gridCol>
                <a:gridCol w="2914073">
                  <a:extLst>
                    <a:ext uri="{9D8B030D-6E8A-4147-A177-3AD203B41FA5}">
                      <a16:colId xmlns:a16="http://schemas.microsoft.com/office/drawing/2014/main" val="2974391724"/>
                    </a:ext>
                  </a:extLst>
                </a:gridCol>
              </a:tblGrid>
              <a:tr h="3090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7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Intelligence Lens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7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Metric Theme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7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What It Reveals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7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Decision Value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593576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Service Quality Index – A combined performance metrics of all vital KPIs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Composite Service Health Scoring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Overall service stability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Detect degradation early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728116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Burn Chart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Demand vs Resolution Momentum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Backlog pressure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Prevent overload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47552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Priority Trend and Delta tickets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Urgency Pattern Shifts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Rising high‑impact demand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Plan capacity early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84373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Top CIs contributing maximum disruptions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High-Impact Asset Concentration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Most unstable components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Target remediation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71769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eassignment Analysis and Top traffic routes Sankey chart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Cross-Functional Workflows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Handoffs and rework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Remove bottlenecks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55076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Support Agent Performance Scatter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Throughput vs Outcome Profiling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Contributor performance patterns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Focused coaching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57812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CSAT vs FCR correlation analysis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Efficiency vs Experience Balance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Efficiency vs satisfaction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Improve experience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40437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Ticket logging Channel effectiveness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Intake Pathway Impact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Channel performance impact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Smarter routing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7037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Status Flow Sankey Chart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Lifecycle Movement Patterns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Delays and workflow loops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Optimize flow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93428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Tickets resolved by group which transferred  it earlier (Ops Wastes)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Rework &amp; Bounce Patterns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Ownership bounce and rework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Reduce cycle time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87668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Breach Risk</a:t>
                      </a:r>
                      <a:endParaRPr lang="en-IN" sz="13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Breach &amp; Escalation Exposure</a:t>
                      </a: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Emerging SLA risk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 before breach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791409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Flagging Potential Major Incidents</a:t>
                      </a:r>
                      <a:endParaRPr lang="en-IN" sz="13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Predictive Analytics</a:t>
                      </a:r>
                      <a:endParaRPr lang="en-IN" sz="1300" b="1" kern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23813" marR="23813" marT="15875" marB="15875" anchor="b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Major incident likelihood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Prevent disruption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631115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A46A8B94-9FED-A456-6E05-D483179BC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968"/>
            <a:ext cx="1579418" cy="8043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265" y="871240"/>
            <a:ext cx="4659511" cy="58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000" b="1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Why Us</a:t>
            </a:r>
            <a:endParaRPr lang="en-US" sz="30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64" y="1538089"/>
            <a:ext cx="3515023" cy="46866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9716" y="3346649"/>
            <a:ext cx="6465689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3000" b="1" dirty="0">
                <a:solidFill>
                  <a:srgbClr val="F5F0F0"/>
                </a:solidFill>
                <a:ea typeface="Merriweather" pitchFamily="34" charset="-122"/>
                <a:cs typeface="Merriweather" pitchFamily="34" charset="-120"/>
              </a:rPr>
              <a:t>Specialized Focus on ITSM Decision Intelligence</a:t>
            </a:r>
            <a:endParaRPr lang="en-US" sz="3000" b="1" dirty="0"/>
          </a:p>
        </p:txBody>
      </p:sp>
      <p:sp>
        <p:nvSpPr>
          <p:cNvPr id="5" name="Text 2"/>
          <p:cNvSpPr/>
          <p:nvPr/>
        </p:nvSpPr>
        <p:spPr>
          <a:xfrm>
            <a:off x="4531278" y="3864967"/>
            <a:ext cx="6917730" cy="568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1667" b="1" dirty="0">
                <a:solidFill>
                  <a:srgbClr val="E2E6E9"/>
                </a:solidFill>
                <a:ea typeface="Merriweather" pitchFamily="34" charset="-122"/>
                <a:cs typeface="Merriweather" pitchFamily="34" charset="-120"/>
              </a:rPr>
              <a:t>Deep expertise in transforming ITSM data into actionable intelligence that drives operational excellence</a:t>
            </a:r>
            <a:endParaRPr lang="en-US" sz="1667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B33C28-5BBB-4F64-0DEE-92DBA2138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9968"/>
            <a:ext cx="1579418" cy="8043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965</Words>
  <Application>Microsoft Office PowerPoint</Application>
  <PresentationFormat>Widescreen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Merriweather</vt:lpstr>
      <vt:lpstr>Merriweather Light</vt:lpstr>
      <vt:lpstr>Roboto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Animesh Deb</cp:lastModifiedBy>
  <cp:revision>1</cp:revision>
  <dcterms:created xsi:type="dcterms:W3CDTF">2026-03-19T09:00:34Z</dcterms:created>
  <dcterms:modified xsi:type="dcterms:W3CDTF">2026-04-14T03:51:06Z</dcterms:modified>
</cp:coreProperties>
</file>